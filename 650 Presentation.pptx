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DMSansMedium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e0695fc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e0695fc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e0695fc4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e0695fc4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4e0695fc4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4e0695fc4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e0695fc43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e0695fc4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fc3647a7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4fc3647a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e0695fc4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4e0695fc4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fc3647a7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fc3647a7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4e0695fc43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4e0695fc43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e0695fc4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4e0695fc4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comparing the prediction and the ground truth, we can see that the areas predicted with high or medium fire probability overlap well with the actual burned areas.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e88de07b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e88de07b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e0695fc4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4e0695fc4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idx="4" type="body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MM</a:t>
            </a:r>
            <a:r>
              <a:rPr lang="en"/>
              <a:t>.DD.YY</a:t>
            </a:r>
            <a:endParaRPr/>
          </a:p>
        </p:txBody>
      </p:sp>
      <p:sp>
        <p:nvSpPr>
          <p:cNvPr id="263" name="Google Shape;263;p44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Wildfire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4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Yutong Jiang, </a:t>
            </a:r>
            <a:r>
              <a:rPr i="1" lang="en"/>
              <a:t>Jingmiao Fei</a:t>
            </a:r>
            <a:endParaRPr i="1"/>
          </a:p>
        </p:txBody>
      </p:sp>
      <p:pic>
        <p:nvPicPr>
          <p:cNvPr descr="A close-up of a yellow and green background&#10;&#10;AI-generated content may be incorrect." id="265" name="Google Shape;2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400" y="0"/>
            <a:ext cx="2895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72" name="Google Shape;272;p45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 Wildfire?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516437" y="1584311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Target Users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4" name="Google Shape;274;p45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Model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Approach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7" name="Google Shape;277;p45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45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9" name="Google Shape;279;p45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" name="Google Shape;280;p45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 Wildfire?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7" name="Google Shape;287;p46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Wildland‑Urban Interface increases (WUI)</a:t>
            </a:r>
            <a:r>
              <a:rPr lang="en" sz="2500">
                <a:solidFill>
                  <a:schemeClr val="dk1"/>
                </a:solidFill>
              </a:rPr>
              <a:t>: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The expansion of the WUI is driven by rapid urbanization, which increasingly pushes residential development into fire-prone wildland areas.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 Wildfire?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3" name="Google Shape;293;p47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Rising heat &amp; drought lengthen fire seasons everywhere: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Rising </a:t>
            </a:r>
            <a:r>
              <a:rPr lang="en" sz="2500">
                <a:solidFill>
                  <a:schemeClr val="dk1"/>
                </a:solidFill>
              </a:rPr>
              <a:t>temperatures</a:t>
            </a:r>
            <a:r>
              <a:rPr lang="en" sz="2500">
                <a:solidFill>
                  <a:schemeClr val="dk1"/>
                </a:solidFill>
              </a:rPr>
              <a:t> and prolonged drought conditions, intensified by global climate change, are extending the duration and severity of wildfire seasons worldwide.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Study Area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9" name="Google Shape;299;p48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Agola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High wildfire frequency</a:t>
            </a:r>
            <a:r>
              <a:rPr lang="en" sz="2500">
                <a:solidFill>
                  <a:schemeClr val="dk1"/>
                </a:solidFill>
              </a:rPr>
              <a:t> in Miombo woodland and savanna regions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" sz="2500">
                <a:solidFill>
                  <a:schemeClr val="dk1"/>
                </a:solidFill>
              </a:rPr>
              <a:t>Vulnerable ecosystems</a:t>
            </a:r>
            <a:r>
              <a:rPr lang="en" sz="2500">
                <a:solidFill>
                  <a:schemeClr val="dk1"/>
                </a:solidFill>
              </a:rPr>
              <a:t> with biodiversity at risk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Limited local fire monitoring systems and predictive modeling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Growing land-use pressures from agriculture, deforestation, and population expansion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Target User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5" name="Google Shape;305;p49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Urban planners shaping rapidly growing cities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Developers expanding into peri-urban or wildland areas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Operating in contexts with limited geospatial or climate data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Need accessible tools for climate-informed planning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311" name="Google Shape;311;p50"/>
          <p:cNvPicPr preferRelativeResize="0"/>
          <p:nvPr/>
        </p:nvPicPr>
        <p:blipFill rotWithShape="1">
          <a:blip r:embed="rId3">
            <a:alphaModFix/>
          </a:blip>
          <a:srcRect b="0" l="0" r="0" t="-5563"/>
          <a:stretch/>
        </p:blipFill>
        <p:spPr>
          <a:xfrm>
            <a:off x="2340480" y="-434766"/>
            <a:ext cx="5582108" cy="550211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0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Selection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3" name="Google Shape;313;p50"/>
          <p:cNvSpPr txBox="1"/>
          <p:nvPr/>
        </p:nvSpPr>
        <p:spPr>
          <a:xfrm>
            <a:off x="4553875" y="2244175"/>
            <a:ext cx="10686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Random</a:t>
            </a:r>
            <a:endParaRPr b="1"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Forest</a:t>
            </a:r>
            <a:endParaRPr b="1"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4" name="Google Shape;31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6525" y="551125"/>
            <a:ext cx="1983300" cy="6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0"/>
          <p:cNvSpPr txBox="1"/>
          <p:nvPr/>
        </p:nvSpPr>
        <p:spPr>
          <a:xfrm>
            <a:off x="4232350" y="495750"/>
            <a:ext cx="276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NDVI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●"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Aboveground BiomassCarbon Density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&amp; Model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1" name="Google Shape;321;p51"/>
          <p:cNvSpPr/>
          <p:nvPr/>
        </p:nvSpPr>
        <p:spPr>
          <a:xfrm>
            <a:off x="197375" y="1511125"/>
            <a:ext cx="2674500" cy="20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p51"/>
          <p:cNvSpPr/>
          <p:nvPr/>
        </p:nvSpPr>
        <p:spPr>
          <a:xfrm>
            <a:off x="197363" y="3650675"/>
            <a:ext cx="2674500" cy="3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p51"/>
          <p:cNvSpPr/>
          <p:nvPr/>
        </p:nvSpPr>
        <p:spPr>
          <a:xfrm>
            <a:off x="197388" y="4031675"/>
            <a:ext cx="26745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800650" y="1663525"/>
            <a:ext cx="22332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Drought Severity Index 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Soil Moisture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Precipitation Accumulation 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Wind Speed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Maximum Temperature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NDVI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Elevation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Biomass Carbon Density 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Population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Burnt Area Monthly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Eco-regions (Angola)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p51"/>
          <p:cNvSpPr txBox="1"/>
          <p:nvPr/>
        </p:nvSpPr>
        <p:spPr>
          <a:xfrm>
            <a:off x="435550" y="997050"/>
            <a:ext cx="267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</a:t>
            </a: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ollection</a:t>
            </a:r>
            <a:endParaRPr sz="2000"/>
          </a:p>
        </p:txBody>
      </p:sp>
      <p:sp>
        <p:nvSpPr>
          <p:cNvPr id="326" name="Google Shape;326;p51"/>
          <p:cNvSpPr txBox="1"/>
          <p:nvPr/>
        </p:nvSpPr>
        <p:spPr>
          <a:xfrm>
            <a:off x="385150" y="24226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endParaRPr sz="1500">
              <a:solidFill>
                <a:schemeClr val="hlink"/>
              </a:solidFill>
            </a:endParaRPr>
          </a:p>
        </p:txBody>
      </p:sp>
      <p:sp>
        <p:nvSpPr>
          <p:cNvPr id="327" name="Google Shape;327;p51"/>
          <p:cNvSpPr txBox="1"/>
          <p:nvPr/>
        </p:nvSpPr>
        <p:spPr>
          <a:xfrm>
            <a:off x="359363" y="3594863"/>
            <a:ext cx="85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Y</a:t>
            </a:r>
            <a:endParaRPr sz="1500">
              <a:solidFill>
                <a:schemeClr val="hlink"/>
              </a:solidFill>
            </a:endParaRPr>
          </a:p>
        </p:txBody>
      </p:sp>
      <p:sp>
        <p:nvSpPr>
          <p:cNvPr id="328" name="Google Shape;328;p51"/>
          <p:cNvSpPr txBox="1"/>
          <p:nvPr/>
        </p:nvSpPr>
        <p:spPr>
          <a:xfrm>
            <a:off x="3066513" y="973538"/>
            <a:ext cx="199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</a:t>
            </a:r>
            <a:endParaRPr sz="2000"/>
          </a:p>
        </p:txBody>
      </p:sp>
      <p:sp>
        <p:nvSpPr>
          <p:cNvPr id="329" name="Google Shape;329;p51"/>
          <p:cNvSpPr/>
          <p:nvPr/>
        </p:nvSpPr>
        <p:spPr>
          <a:xfrm>
            <a:off x="3012475" y="1510825"/>
            <a:ext cx="1995000" cy="294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51"/>
          <p:cNvSpPr txBox="1"/>
          <p:nvPr/>
        </p:nvSpPr>
        <p:spPr>
          <a:xfrm>
            <a:off x="3072000" y="17703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Clip 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Spatial: study area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- Temporal: calculate 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                      dry season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   (2020.6 - 2020.8)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51"/>
          <p:cNvSpPr txBox="1"/>
          <p:nvPr/>
        </p:nvSpPr>
        <p:spPr>
          <a:xfrm>
            <a:off x="3072000" y="31833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Binarize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- </a:t>
            </a: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0 (not burnt)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- 1  (burnt)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51"/>
          <p:cNvSpPr txBox="1"/>
          <p:nvPr/>
        </p:nvSpPr>
        <p:spPr>
          <a:xfrm>
            <a:off x="5422413" y="1020550"/>
            <a:ext cx="188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</a:t>
            </a:r>
            <a:endParaRPr sz="2000"/>
          </a:p>
        </p:txBody>
      </p:sp>
      <p:sp>
        <p:nvSpPr>
          <p:cNvPr id="333" name="Google Shape;333;p51"/>
          <p:cNvSpPr/>
          <p:nvPr/>
        </p:nvSpPr>
        <p:spPr>
          <a:xfrm>
            <a:off x="5170400" y="1510825"/>
            <a:ext cx="1886700" cy="294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51"/>
          <p:cNvSpPr txBox="1"/>
          <p:nvPr/>
        </p:nvSpPr>
        <p:spPr>
          <a:xfrm>
            <a:off x="5286875" y="17703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- predict probability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5" name="Google Shape;335;p51"/>
          <p:cNvSpPr txBox="1"/>
          <p:nvPr/>
        </p:nvSpPr>
        <p:spPr>
          <a:xfrm>
            <a:off x="5355100" y="31630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Sample Size</a:t>
            </a:r>
            <a:endParaRPr b="1"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1500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1500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Train-test split</a:t>
            </a: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7:3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51"/>
          <p:cNvSpPr txBox="1"/>
          <p:nvPr/>
        </p:nvSpPr>
        <p:spPr>
          <a:xfrm>
            <a:off x="7198075" y="1018913"/>
            <a:ext cx="188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</a:t>
            </a:r>
            <a:endParaRPr sz="2000"/>
          </a:p>
        </p:txBody>
      </p:sp>
      <p:sp>
        <p:nvSpPr>
          <p:cNvPr id="337" name="Google Shape;337;p51"/>
          <p:cNvSpPr/>
          <p:nvPr/>
        </p:nvSpPr>
        <p:spPr>
          <a:xfrm>
            <a:off x="7211925" y="1510825"/>
            <a:ext cx="1731300" cy="294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51"/>
          <p:cNvSpPr txBox="1"/>
          <p:nvPr/>
        </p:nvSpPr>
        <p:spPr>
          <a:xfrm>
            <a:off x="7307100" y="25290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Confusion Matrix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Feature Importance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51"/>
          <p:cNvSpPr txBox="1"/>
          <p:nvPr/>
        </p:nvSpPr>
        <p:spPr>
          <a:xfrm>
            <a:off x="727900" y="4457000"/>
            <a:ext cx="26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S</a:t>
            </a:r>
            <a:r>
              <a:rPr b="1"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ource: GEE</a:t>
            </a:r>
            <a:endParaRPr/>
          </a:p>
        </p:txBody>
      </p:sp>
      <p:cxnSp>
        <p:nvCxnSpPr>
          <p:cNvPr id="340" name="Google Shape;340;p51"/>
          <p:cNvCxnSpPr/>
          <p:nvPr/>
        </p:nvCxnSpPr>
        <p:spPr>
          <a:xfrm flipH="1" rot="10800000">
            <a:off x="2872950" y="2166675"/>
            <a:ext cx="1959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51"/>
          <p:cNvCxnSpPr/>
          <p:nvPr/>
        </p:nvCxnSpPr>
        <p:spPr>
          <a:xfrm>
            <a:off x="4391800" y="3542825"/>
            <a:ext cx="9672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51"/>
          <p:cNvCxnSpPr/>
          <p:nvPr/>
        </p:nvCxnSpPr>
        <p:spPr>
          <a:xfrm>
            <a:off x="4391800" y="3722650"/>
            <a:ext cx="9672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51"/>
          <p:cNvSpPr/>
          <p:nvPr/>
        </p:nvSpPr>
        <p:spPr>
          <a:xfrm>
            <a:off x="2960175" y="2957400"/>
            <a:ext cx="2139000" cy="137100"/>
          </a:xfrm>
          <a:prstGeom prst="rect">
            <a:avLst/>
          </a:prstGeom>
          <a:solidFill>
            <a:srgbClr val="FD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51"/>
          <p:cNvSpPr/>
          <p:nvPr/>
        </p:nvSpPr>
        <p:spPr>
          <a:xfrm>
            <a:off x="5099275" y="2561875"/>
            <a:ext cx="2047200" cy="532500"/>
          </a:xfrm>
          <a:prstGeom prst="rect">
            <a:avLst/>
          </a:prstGeom>
          <a:solidFill>
            <a:srgbClr val="FD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45" name="Google Shape;345;p51"/>
          <p:cNvCxnSpPr/>
          <p:nvPr/>
        </p:nvCxnSpPr>
        <p:spPr>
          <a:xfrm flipH="1" rot="10800000">
            <a:off x="2872950" y="3766875"/>
            <a:ext cx="1959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51"/>
          <p:cNvSpPr txBox="1"/>
          <p:nvPr/>
        </p:nvSpPr>
        <p:spPr>
          <a:xfrm>
            <a:off x="206963" y="3975863"/>
            <a:ext cx="8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Study</a:t>
            </a:r>
            <a:endParaRPr b="1"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Area</a:t>
            </a:r>
            <a:endParaRPr b="1"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347" name="Google Shape;347;p51"/>
          <p:cNvCxnSpPr>
            <a:stCxn id="344" idx="2"/>
            <a:endCxn id="344" idx="0"/>
          </p:cNvCxnSpPr>
          <p:nvPr/>
        </p:nvCxnSpPr>
        <p:spPr>
          <a:xfrm rot="10800000">
            <a:off x="6122875" y="2561875"/>
            <a:ext cx="0" cy="532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51"/>
          <p:cNvCxnSpPr/>
          <p:nvPr/>
        </p:nvCxnSpPr>
        <p:spPr>
          <a:xfrm>
            <a:off x="7057750" y="2165775"/>
            <a:ext cx="14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2"/>
          <p:cNvPicPr preferRelativeResize="0"/>
          <p:nvPr/>
        </p:nvPicPr>
        <p:blipFill rotWithShape="1">
          <a:blip r:embed="rId3">
            <a:alphaModFix/>
          </a:blip>
          <a:srcRect b="0" l="14061" r="4565" t="0"/>
          <a:stretch/>
        </p:blipFill>
        <p:spPr>
          <a:xfrm>
            <a:off x="2729625" y="1200750"/>
            <a:ext cx="2229575" cy="27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2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55" name="Google Shape;35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199" y="1200739"/>
            <a:ext cx="2229576" cy="277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050" y="777689"/>
            <a:ext cx="3803575" cy="32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2"/>
          <p:cNvSpPr txBox="1"/>
          <p:nvPr/>
        </p:nvSpPr>
        <p:spPr>
          <a:xfrm>
            <a:off x="5124000" y="4278350"/>
            <a:ext cx="78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Overall Accuracy = 73.5%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358" name="Google Shape;358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188" y="4129850"/>
            <a:ext cx="19431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9613" y="4058950"/>
            <a:ext cx="192405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/>
          <p:cNvSpPr txBox="1"/>
          <p:nvPr/>
        </p:nvSpPr>
        <p:spPr>
          <a:xfrm>
            <a:off x="511750" y="777700"/>
            <a:ext cx="267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Ground Truth</a:t>
            </a:r>
            <a:endParaRPr sz="2000"/>
          </a:p>
        </p:txBody>
      </p:sp>
      <p:sp>
        <p:nvSpPr>
          <p:cNvPr id="361" name="Google Shape;361;p52"/>
          <p:cNvSpPr txBox="1"/>
          <p:nvPr/>
        </p:nvSpPr>
        <p:spPr>
          <a:xfrm>
            <a:off x="3065100" y="777700"/>
            <a:ext cx="267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Prediction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7" name="Google Shape;367;p53"/>
          <p:cNvSpPr txBox="1"/>
          <p:nvPr/>
        </p:nvSpPr>
        <p:spPr>
          <a:xfrm>
            <a:off x="305550" y="4450400"/>
            <a:ext cx="853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Feature Importance Top3: Soil Moisture, NDVI, DEM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368" name="Google Shape;3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25" y="739375"/>
            <a:ext cx="6797775" cy="37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8F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/>
        </p:nvSpPr>
        <p:spPr>
          <a:xfrm>
            <a:off x="111462" y="24556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Approach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4" name="Google Shape;374;p54"/>
          <p:cNvSpPr txBox="1"/>
          <p:nvPr/>
        </p:nvSpPr>
        <p:spPr>
          <a:xfrm>
            <a:off x="331450" y="1018875"/>
            <a:ext cx="8286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Spatiotemporal generalization test</a:t>
            </a:r>
            <a:endParaRPr sz="2500"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 – accuracy on data from other time periods or regions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Hyperparameter tuning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Feature selection based on feature importance rank</a:t>
            </a:r>
            <a:endParaRPr b="1" sz="11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